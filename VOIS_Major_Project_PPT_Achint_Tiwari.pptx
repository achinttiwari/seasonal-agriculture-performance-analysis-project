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8"/>
  </p:notesMasterIdLst>
  <p:handoutMasterIdLst>
    <p:handoutMasterId r:id="rId2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6" r:id="rId12"/>
    <p:sldId id="347" r:id="rId13"/>
    <p:sldId id="344" r:id="rId14"/>
    <p:sldId id="345" r:id="rId15"/>
    <p:sldId id="349" r:id="rId16"/>
    <p:sldId id="348" r:id="rId17"/>
    <p:sldId id="350" r:id="rId18"/>
    <p:sldId id="351" r:id="rId19"/>
    <p:sldId id="352" r:id="rId20"/>
    <p:sldId id="353" r:id="rId21"/>
    <p:sldId id="354" r:id="rId22"/>
    <p:sldId id="341" r:id="rId23"/>
    <p:sldId id="356" r:id="rId24"/>
    <p:sldId id="342" r:id="rId25"/>
    <p:sldId id="343" r:id="rId26"/>
    <p:sldId id="30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53" y="97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hinttiwari/Seasonal-Agriculture-Performance-Analysis-Projec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colab.research.google.com/drive/13_kPrFNLpCm5hlBcVbEfofSJp-dXqSNg#scrollTo=4e6188f1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voisfortech.com/certificate-verification/VFLMS26_161501/301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19037" y="4309795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[Achint Tiwari]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42" y="2664697"/>
            <a:ext cx="9421585" cy="1645098"/>
          </a:xfrm>
        </p:spPr>
        <p:txBody>
          <a:bodyPr>
            <a:noAutofit/>
          </a:bodyPr>
          <a:lstStyle/>
          <a:p>
            <a:r>
              <a:rPr lang="en-GB" sz="4000" dirty="0"/>
              <a:t>Project Title - </a:t>
            </a:r>
            <a:r>
              <a:rPr lang="en-IN" sz="3600" b="1" dirty="0"/>
              <a:t>Seasonal Agriculture Performance Analysis</a:t>
            </a:r>
            <a:br>
              <a:rPr lang="en-IN" sz="4000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416661" y="4309795"/>
            <a:ext cx="3968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</a:t>
            </a:r>
            <a:r>
              <a:rPr lang="en-IN" b="1" dirty="0"/>
              <a:t> STU6a58eac975beb1784212169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7232106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dirty="0"/>
              <a:t>• Agricultural performance is influenced by seasonal variations in environmental conditions</a:t>
            </a:r>
            <a:endParaRPr lang="en-IN" sz="3200" dirty="0"/>
          </a:p>
          <a:p>
            <a:r>
              <a:rPr lang="en-IN" dirty="0"/>
              <a:t>• Farming practices, resource availability, and market conditions differ across seasons</a:t>
            </a:r>
            <a:endParaRPr lang="en-IN" sz="3200" dirty="0"/>
          </a:p>
          <a:p>
            <a:r>
              <a:rPr lang="en-IN" dirty="0"/>
              <a:t>• Raw agricultural data lacks clear insights into seasonal patterns and trends</a:t>
            </a:r>
            <a:endParaRPr lang="en-IN" sz="3200" dirty="0"/>
          </a:p>
          <a:p>
            <a:r>
              <a:rPr lang="en-IN" dirty="0"/>
              <a:t>• Need to identify meaningful patterns and relationships within seasonal data</a:t>
            </a:r>
            <a:endParaRPr lang="en-IN" sz="3200" dirty="0"/>
          </a:p>
          <a:p>
            <a:r>
              <a:rPr lang="en-IN" dirty="0"/>
              <a:t>• Goal: </a:t>
            </a:r>
            <a:r>
              <a:rPr lang="en-IN" dirty="0" err="1"/>
              <a:t>Analyze</a:t>
            </a:r>
            <a:r>
              <a:rPr lang="en-IN" dirty="0"/>
              <a:t> agricultural dataset to investigate seasonal differences in performance</a:t>
            </a:r>
            <a:endParaRPr lang="en-IN" sz="3200" dirty="0"/>
          </a:p>
          <a:p>
            <a:br>
              <a:rPr lang="en-IN" sz="3200" dirty="0"/>
            </a:br>
            <a:endParaRPr lang="en-IN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1029D9-F63D-E430-ED4E-EFB44B5AC639}"/>
              </a:ext>
            </a:extLst>
          </p:cNvPr>
          <p:cNvSpPr txBox="1"/>
          <p:nvPr/>
        </p:nvSpPr>
        <p:spPr>
          <a:xfrm>
            <a:off x="675957" y="2171700"/>
            <a:ext cx="91701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• Comprehensive analysis of seasonal agricultural performance across 3 seasons</a:t>
            </a:r>
          </a:p>
          <a:p>
            <a:r>
              <a:rPr lang="en-IN" sz="2400" dirty="0"/>
              <a:t>• Dataset: Contains farm records from multiple states across Kharif, Rabi, and Zaid seasons</a:t>
            </a:r>
          </a:p>
          <a:p>
            <a:r>
              <a:rPr lang="en-IN" sz="2400" dirty="0"/>
              <a:t>• Scope: Analyse 4,000+ farm records covering environmental, resource, and economic factors</a:t>
            </a:r>
          </a:p>
          <a:p>
            <a:r>
              <a:rPr lang="en-IN" sz="2400" dirty="0"/>
              <a:t>• Methodology: Data Visualization &amp; Pattern Recognition</a:t>
            </a:r>
          </a:p>
          <a:p>
            <a:r>
              <a:rPr lang="en-IN" sz="2400" dirty="0"/>
              <a:t>• Tools: Python (pandas, matplotlib, seaborn) for data analysis and visualization</a:t>
            </a:r>
          </a:p>
          <a:p>
            <a:r>
              <a:rPr lang="en-IN" sz="2400" dirty="0"/>
              <a:t>• Focus: Identify patterns, trends, and actionable insights for agricultural planning</a:t>
            </a:r>
          </a:p>
          <a:p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9516655" cy="3990023"/>
          </a:xfrm>
        </p:spPr>
        <p:txBody>
          <a:bodyPr>
            <a:noAutofit/>
          </a:bodyPr>
          <a:lstStyle/>
          <a:p>
            <a:r>
              <a:rPr lang="en-IN" dirty="0"/>
              <a:t>🌾 Farmers: Plan seasonal crop selection and resource allocation</a:t>
            </a:r>
            <a:endParaRPr lang="en-IN" sz="3600" dirty="0"/>
          </a:p>
          <a:p>
            <a:r>
              <a:rPr lang="en-IN" dirty="0"/>
              <a:t>📊 Agricultural Planners: Design policies based on seasonal performance data</a:t>
            </a:r>
            <a:endParaRPr lang="en-IN" sz="3600" dirty="0"/>
          </a:p>
          <a:p>
            <a:r>
              <a:rPr lang="en-IN" dirty="0"/>
              <a:t>💼 Government Agencies: Support agricultural development programs</a:t>
            </a:r>
            <a:endParaRPr lang="en-IN" sz="3600" dirty="0"/>
          </a:p>
          <a:p>
            <a:r>
              <a:rPr lang="en-IN" dirty="0"/>
              <a:t>🏢 Agricultural Businesses: Optimize supply chain and procurement strategies</a:t>
            </a:r>
            <a:endParaRPr lang="en-IN" sz="3600" dirty="0"/>
          </a:p>
          <a:p>
            <a:r>
              <a:rPr lang="en-IN" dirty="0"/>
              <a:t>📈 Researchers: Study seasonal patterns and climate impacts on agriculture</a:t>
            </a:r>
            <a:endParaRPr lang="en-IN" sz="3600" dirty="0"/>
          </a:p>
          <a:p>
            <a:r>
              <a:rPr lang="en-IN" dirty="0"/>
              <a:t>🌍 Rural Development Organizations: Design targeted interventions</a:t>
            </a:r>
            <a:endParaRPr lang="en-IN" sz="3600" dirty="0"/>
          </a:p>
          <a:p>
            <a:br>
              <a:rPr lang="en-IN" sz="3600" dirty="0"/>
            </a:b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3870" y="1432560"/>
            <a:ext cx="7834449" cy="5243448"/>
          </a:xfrm>
        </p:spPr>
        <p:txBody>
          <a:bodyPr>
            <a:noAutofit/>
          </a:bodyPr>
          <a:lstStyle/>
          <a:p>
            <a:r>
              <a:rPr lang="en-IN" sz="2400" dirty="0"/>
              <a:t>🐍 Python 3.x - Programming language</a:t>
            </a:r>
          </a:p>
          <a:p>
            <a:r>
              <a:rPr lang="en-IN" sz="2400" dirty="0"/>
              <a:t>📊 Pandas - Data manipulation and analysis</a:t>
            </a:r>
          </a:p>
          <a:p>
            <a:r>
              <a:rPr lang="en-IN" sz="2400" dirty="0"/>
              <a:t>📈 Matplotlib &amp; Seaborn - Data visualization</a:t>
            </a:r>
          </a:p>
          <a:p>
            <a:r>
              <a:rPr lang="en-IN" sz="2400" dirty="0"/>
              <a:t>🔢 NumPy - Numerical computing</a:t>
            </a:r>
          </a:p>
          <a:p>
            <a:r>
              <a:rPr lang="en-IN" sz="2400" dirty="0"/>
              <a:t>📓 Jupyter Notebook - Interactive analysis environment</a:t>
            </a:r>
          </a:p>
          <a:p>
            <a:r>
              <a:rPr lang="en-IN" sz="2400" dirty="0"/>
              <a:t>🔗 GitHub - Version control and project repository</a:t>
            </a:r>
          </a:p>
          <a:p>
            <a:pPr marL="0" indent="0">
              <a:buNone/>
            </a:pPr>
            <a:br>
              <a:rPr lang="en-IN" sz="2400" dirty="0"/>
            </a:b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15000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RESULTS; </a:t>
            </a:r>
            <a:r>
              <a:rPr lang="en-IN" dirty="0"/>
              <a:t>Farm Records Analysis</a:t>
            </a:r>
            <a:br>
              <a:rPr lang="en-IN" b="0" dirty="0"/>
            </a:br>
            <a:br>
              <a:rPr lang="en-IN" dirty="0"/>
            </a:b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 descr="01_farm_records_by_season.png">
            <a:extLst>
              <a:ext uri="{FF2B5EF4-FFF2-40B4-BE49-F238E27FC236}">
                <a16:creationId xmlns:a16="http://schemas.microsoft.com/office/drawing/2014/main" id="{6CC3E48A-ABF3-D26B-0FBB-78DB7D531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627" y="1275371"/>
            <a:ext cx="7275659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56205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Environmental Conditions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 descr="02_environmental_conditions_by_season.png">
            <a:extLst>
              <a:ext uri="{FF2B5EF4-FFF2-40B4-BE49-F238E27FC236}">
                <a16:creationId xmlns:a16="http://schemas.microsoft.com/office/drawing/2014/main" id="{2F1981DF-D74C-5121-43FD-963723A2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05" y="1319417"/>
            <a:ext cx="8137824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60AFA-4972-23C3-C60E-9A15504E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77094"/>
            <a:ext cx="9655775" cy="559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5FFE8-3C58-4805-D58D-260B5200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6AAB0-8B95-788C-04FE-2B7C0C3EC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9095A7A-5D88-9BE5-F496-29EF6CFC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186500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Resource Usage Analysis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F78E82C-951A-96CC-3D82-94003261400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33592B-3A6A-FEEC-B7B1-4E3DEE881A2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C556D99-31F4-6FF4-17F3-2EEBAF3BF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 descr="03_resource_usage_by_season.png">
            <a:extLst>
              <a:ext uri="{FF2B5EF4-FFF2-40B4-BE49-F238E27FC236}">
                <a16:creationId xmlns:a16="http://schemas.microsoft.com/office/drawing/2014/main" id="{99E053B5-E6E8-63F9-81F3-B2E23F4B7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82852"/>
            <a:ext cx="11477883" cy="35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6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CAF40-6803-AEB1-EAAB-27C9D2846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8451714" cy="525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79257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Irrigation Methods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758F0-709D-CDD5-0EEC-38DD295241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04_irrigation_method_share_by_season.png">
            <a:extLst>
              <a:ext uri="{FF2B5EF4-FFF2-40B4-BE49-F238E27FC236}">
                <a16:creationId xmlns:a16="http://schemas.microsoft.com/office/drawing/2014/main" id="{8FCAEFE8-EECD-76D8-4517-A14CC21AF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2" y="1201586"/>
            <a:ext cx="7792577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A73B-3753-8F15-5ABA-EEF7FA6F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44223-7BF9-572E-B46D-F3EB99564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49826D7-6E93-872C-C4FA-F1F1A0EF1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79257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Yield Distribution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FF61EA7-3B4C-1DE0-3CE9-C595F604BBD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F52B398-F0D9-3FA8-1243-09718120788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37977-B678-22F5-6E50-84F327BED3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Picture 1" descr="05_yield_distribution_by_season.png">
            <a:extLst>
              <a:ext uri="{FF2B5EF4-FFF2-40B4-BE49-F238E27FC236}">
                <a16:creationId xmlns:a16="http://schemas.microsoft.com/office/drawing/2014/main" id="{9F27EBD6-042C-5101-FCCA-A02006BA3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2" y="1201586"/>
            <a:ext cx="8229504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3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C55D-8419-97C8-CB60-CB6739217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45E54-006D-2CA1-01BB-DDDAB112F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75C689-3E09-70FE-4451-285562F7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986600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Crop-Wise Yield Analysis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E3B35AE-2B9A-0DF7-0178-D986B7045C6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0B7129F-45E8-EFC2-C575-7478AF592FF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951A0-51EF-4618-9AF2-1FE12ADE4F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Picture 1" descr="06_avg_yield_by_crop_and_season_heatmap.png">
            <a:extLst>
              <a:ext uri="{FF2B5EF4-FFF2-40B4-BE49-F238E27FC236}">
                <a16:creationId xmlns:a16="http://schemas.microsoft.com/office/drawing/2014/main" id="{FBA0AD08-4B9F-A728-E4A6-1DE0F325D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08" y="1119943"/>
            <a:ext cx="7918125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0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3F20-D34B-BF43-FFC2-2E035E86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7090F7-9EB4-8F47-7512-641336589D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9859A1-5915-608B-3DA1-1AFAA4E5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21915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Economic Performance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E4DB9B1-A3C4-2165-A04F-91DE2B9D7F0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70E4551-6AB2-55E3-46DF-51253CDA8AE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AA7F2-98A5-EDF4-E29A-B187AD548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Picture 1" descr="07_economic_performance_by_season.png">
            <a:extLst>
              <a:ext uri="{FF2B5EF4-FFF2-40B4-BE49-F238E27FC236}">
                <a16:creationId xmlns:a16="http://schemas.microsoft.com/office/drawing/2014/main" id="{E80469E4-61DE-65D6-10F8-2A7F6E2B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16" y="1817538"/>
            <a:ext cx="10919999" cy="401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9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ED726-D915-AF57-4E03-01B985D8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4F1A5C-FEBD-8737-3B59-FDC5FE870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47CE9D0-7F27-C5DD-DB3A-D7CED85D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79257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Loss-Making Farms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4E3063B-61FF-B7E9-0F5B-9938C37EC9A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4856364-D3FB-080C-7374-D05EB241719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DD3F3-1916-B7B9-5F08-20D841C68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Picture 1" descr="08_loss_making_farms_pct_by_season.png">
            <a:extLst>
              <a:ext uri="{FF2B5EF4-FFF2-40B4-BE49-F238E27FC236}">
                <a16:creationId xmlns:a16="http://schemas.microsoft.com/office/drawing/2014/main" id="{DA35A005-3420-AC59-4220-184D9AA70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96" y="1303926"/>
            <a:ext cx="8054938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9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1520-6B4D-50B2-F4D6-B728CF29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FCA4DF-31B5-863C-22FF-28FA15202F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20D1E4-8BE0-B810-BC44-9808F4D8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79257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Correlation Analysis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506591-DB7D-DCB8-203B-3248CE25D90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88A9834-E502-7A10-112F-A57A7DA9A23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35347-0FC4-C21E-F89F-D4629A0E64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Picture 1" descr="09_correlation_matrix_heatmap.png">
            <a:extLst>
              <a:ext uri="{FF2B5EF4-FFF2-40B4-BE49-F238E27FC236}">
                <a16:creationId xmlns:a16="http://schemas.microsoft.com/office/drawing/2014/main" id="{3400C96E-78E2-6A29-4297-A0B783B65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400446"/>
            <a:ext cx="9508818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1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64D7-E658-F970-6113-CAC842CA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28923A-ABF0-D781-939E-93AB1F3F2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B1A2F37-EDAB-6016-F58D-3CFB1603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792577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Disease &amp; Pest Risk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3681FFE-1104-588C-920D-57AC4D57993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470BE1F-EA22-F927-700B-5FCD1A72FCE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3A5CB-3570-FFD5-EEA8-68B4990F5B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11_disease_pest_risk_by_season.png">
            <a:extLst>
              <a:ext uri="{FF2B5EF4-FFF2-40B4-BE49-F238E27FC236}">
                <a16:creationId xmlns:a16="http://schemas.microsoft.com/office/drawing/2014/main" id="{CFC48AC3-3082-4A40-B066-AB0724DF0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64" y="1319417"/>
            <a:ext cx="7924769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7789-4230-394D-4886-343E04E62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F0F6EE-8C29-F79A-1D92-B8F6DC215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756C07D-A6D5-0348-D1A7-9101EC4E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970272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RESULTS: State-Wise Yield Heatmap</a:t>
            </a:r>
            <a:br>
              <a:rPr lang="en-IN" b="0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34FC82A-CA3C-BB05-43C9-C18C51DE991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6697A50-1664-B05F-EA03-8FB02AB0682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34CE0-A57E-F9A2-4436-A568438990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12_avg_yield_by_state_and_season_heatmap.png">
            <a:extLst>
              <a:ext uri="{FF2B5EF4-FFF2-40B4-BE49-F238E27FC236}">
                <a16:creationId xmlns:a16="http://schemas.microsoft.com/office/drawing/2014/main" id="{A48EEE0F-DEC3-88AD-EFC1-8D858F1A5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1201586"/>
            <a:ext cx="9202057" cy="54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7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KEY FINDINGS</a:t>
            </a:r>
            <a:br>
              <a:rPr lang="en-IN" sz="4000" b="0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7B23F-D866-A964-D6FE-270C7C600AE3}"/>
              </a:ext>
            </a:extLst>
          </p:cNvPr>
          <p:cNvSpPr txBox="1"/>
          <p:nvPr/>
        </p:nvSpPr>
        <p:spPr>
          <a:xfrm>
            <a:off x="675957" y="1714500"/>
            <a:ext cx="100682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✓ Kharif season has highest farm records (1,750) with most </a:t>
            </a:r>
            <a:r>
              <a:rPr lang="en-IN" sz="2400" dirty="0" err="1"/>
              <a:t>favorable</a:t>
            </a:r>
            <a:r>
              <a:rPr lang="en-IN" sz="2400" dirty="0"/>
              <a:t> rainfall patterns</a:t>
            </a:r>
          </a:p>
          <a:p>
            <a:r>
              <a:rPr lang="en-IN" sz="2400" dirty="0"/>
              <a:t>✓ Sugarcane shows highest yields across seasons (38-51 tonnes/ha)</a:t>
            </a:r>
          </a:p>
          <a:p>
            <a:r>
              <a:rPr lang="en-IN" sz="2400" dirty="0"/>
              <a:t>✓ Kharif season has better profitability - only 43% farms loss-making vs 65% in Zaid</a:t>
            </a:r>
          </a:p>
          <a:p>
            <a:r>
              <a:rPr lang="en-IN" sz="2400" dirty="0"/>
              <a:t>✓ Strong correlation (0.92) between yield and water efficiency - optimal irrigation critical</a:t>
            </a:r>
          </a:p>
          <a:p>
            <a:r>
              <a:rPr lang="en-IN" sz="2400" dirty="0"/>
              <a:t>✓ Disease/pest risk highest in Kharif (median 55%) - seasonal risk management needed</a:t>
            </a:r>
          </a:p>
          <a:p>
            <a:r>
              <a:rPr lang="en-IN" sz="2400" dirty="0"/>
              <a:t>✓ Punjab shows best yields in Rabi (8.45 t/ha) - regional climate advantage</a:t>
            </a:r>
          </a:p>
          <a:p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0F1D-7FBE-F8C5-64B4-5CB789A0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E12AED-AFF1-E5BD-EA0B-CC1F2203A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A6D874-2969-B334-D33A-C21B7DC7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FUTURE SCOPE</a:t>
            </a:r>
            <a:br>
              <a:rPr lang="en-IN" sz="4000" b="0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C12A8A6-FE85-7DA4-8D5D-72D1E75945E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411118C-9905-931C-3EBF-9EF439C9E2C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88A17-5D80-DB04-7F58-0F3B5DDBDD35}"/>
              </a:ext>
            </a:extLst>
          </p:cNvPr>
          <p:cNvSpPr txBox="1"/>
          <p:nvPr/>
        </p:nvSpPr>
        <p:spPr>
          <a:xfrm>
            <a:off x="675956" y="1763486"/>
            <a:ext cx="102478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🔮 Predictive </a:t>
            </a:r>
            <a:r>
              <a:rPr lang="en-IN" sz="2400" dirty="0" err="1"/>
              <a:t>Modeling</a:t>
            </a:r>
            <a:r>
              <a:rPr lang="en-IN" sz="2400" dirty="0"/>
              <a:t>: Build ML models to forecast yield based on seasonal factors</a:t>
            </a:r>
          </a:p>
          <a:p>
            <a:r>
              <a:rPr lang="en-IN" sz="2400" dirty="0"/>
              <a:t>🌡️ Climate Impact Analysis: Incorporate climate change data and its effect on agriculture</a:t>
            </a:r>
          </a:p>
          <a:p>
            <a:r>
              <a:rPr lang="en-IN" sz="2400" dirty="0"/>
              <a:t>💡 Recommendation Engine: Develop system to suggest optimal crop selection per region/season</a:t>
            </a:r>
          </a:p>
          <a:p>
            <a:r>
              <a:rPr lang="en-IN" sz="2400" dirty="0"/>
              <a:t>📱 Mobile Dashboard: Create real-time visualization tool for farmers and planners</a:t>
            </a:r>
          </a:p>
          <a:p>
            <a:r>
              <a:rPr lang="en-IN" sz="2400" dirty="0"/>
              <a:t>🤖 AI-Powered Insights: Use advanced analytics for automated anomaly detection</a:t>
            </a:r>
          </a:p>
          <a:p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1275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https://github.com/AswiniKumar55/-Seasonal-Agriculture-Performance-Analysis-.git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4187E-9099-9D1A-0D4A-8402CA104BBA}"/>
              </a:ext>
            </a:extLst>
          </p:cNvPr>
          <p:cNvSpPr txBox="1"/>
          <p:nvPr/>
        </p:nvSpPr>
        <p:spPr>
          <a:xfrm>
            <a:off x="1012371" y="3004457"/>
            <a:ext cx="3791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Google </a:t>
            </a:r>
            <a:r>
              <a:rPr lang="en-US" sz="3200" b="1" dirty="0" err="1"/>
              <a:t>Colab</a:t>
            </a:r>
            <a:r>
              <a:rPr lang="en-US" sz="3200" b="1" dirty="0"/>
              <a:t> File: </a:t>
            </a:r>
            <a:endParaRPr lang="en-IN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9CC4E-C709-ACBE-A284-F538BD578472}"/>
              </a:ext>
            </a:extLst>
          </p:cNvPr>
          <p:cNvSpPr txBox="1"/>
          <p:nvPr/>
        </p:nvSpPr>
        <p:spPr>
          <a:xfrm>
            <a:off x="675957" y="3883519"/>
            <a:ext cx="805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https://colab.research.google.com/drive/13_kPrFNLpCm5hlBcVbEfofSJp-dXqSNg#scrollTo=4e6188f1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B2DA05-6099-5E0E-56CF-C95045280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24" y="1471517"/>
            <a:ext cx="6097590" cy="4314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2EF62-CC79-C3C7-115D-2EE914572AD3}"/>
              </a:ext>
            </a:extLst>
          </p:cNvPr>
          <p:cNvSpPr txBox="1"/>
          <p:nvPr/>
        </p:nvSpPr>
        <p:spPr>
          <a:xfrm>
            <a:off x="956324" y="6001988"/>
            <a:ext cx="814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https://voisfortech.com/certificate-verification/VFLMS26_161501/301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63292" y="2373163"/>
            <a:ext cx="6724158" cy="700113"/>
          </a:xfrm>
        </p:spPr>
        <p:txBody>
          <a:bodyPr>
            <a:noAutofit/>
          </a:bodyPr>
          <a:lstStyle/>
          <a:p>
            <a:r>
              <a:rPr lang="en-IN" sz="3600" b="0" dirty="0"/>
              <a:t>Achint Tiwari</a:t>
            </a:r>
            <a:br>
              <a:rPr lang="en-IN" sz="3600" b="0" dirty="0"/>
            </a:br>
            <a:r>
              <a:rPr lang="en-IN" sz="3600" b="0" dirty="0"/>
              <a:t>Seasonal Agriculture Performance Analysis</a:t>
            </a:r>
          </a:p>
          <a:p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1381</TotalTime>
  <Words>599</Words>
  <Application>Microsoft Office PowerPoint</Application>
  <PresentationFormat>Widescreen</PresentationFormat>
  <Paragraphs>75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 </vt:lpstr>
      <vt:lpstr>PROBLEM  STATEMENT</vt:lpstr>
      <vt:lpstr>Project Description  </vt:lpstr>
      <vt:lpstr>WHO ARE THE END USERS?</vt:lpstr>
      <vt:lpstr>Technology Used</vt:lpstr>
      <vt:lpstr>RESULTS; Farm Records Analysis   </vt:lpstr>
      <vt:lpstr>RESULTS: Environmental Conditions  </vt:lpstr>
      <vt:lpstr>RESULTS </vt:lpstr>
      <vt:lpstr>RESULTS: Resource Usage Analysis  </vt:lpstr>
      <vt:lpstr>RESULTS </vt:lpstr>
      <vt:lpstr>RESULTS: Irrigation Methods  </vt:lpstr>
      <vt:lpstr>RESULTS: Yield Distribution  </vt:lpstr>
      <vt:lpstr>RESULTS: Crop-Wise Yield Analysis  </vt:lpstr>
      <vt:lpstr>RESULTS: Economic Performance  </vt:lpstr>
      <vt:lpstr>RESULTS: Loss-Making Farms  </vt:lpstr>
      <vt:lpstr>RESULTS: Correlation Analysis  </vt:lpstr>
      <vt:lpstr>RESULTS: Disease &amp; Pest Risk  </vt:lpstr>
      <vt:lpstr>RESULTS: State-Wise Yield Heatmap  </vt:lpstr>
      <vt:lpstr>KEY FINDINGS  </vt:lpstr>
      <vt:lpstr>FUTURE SCOPE  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Achint Tiwari</cp:lastModifiedBy>
  <cp:revision>103</cp:revision>
  <dcterms:created xsi:type="dcterms:W3CDTF">2021-07-11T13:13:15Z</dcterms:created>
  <dcterms:modified xsi:type="dcterms:W3CDTF">2026-09-10T17:49:09Z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